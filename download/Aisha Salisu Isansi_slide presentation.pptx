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22"/>
    <p:sldId id="274" r:id="rId23"/>
    <p:sldId id="275" r:id="rId24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CFU/m3 by Building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Niger Hall</c:v>
                </c:pt>
                <c:pt idx="1">
                  <c:v>Volta Hall</c:v>
                </c:pt>
                <c:pt idx="2">
                  <c:v>Limpopo Hall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31.4</c:v>
                </c:pt>
                <c:pt idx="1">
                  <c:v>47.2</c:v>
                </c:pt>
                <c:pt idx="2">
                  <c:v>47.2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8-1149-8DB7-3F02FAA237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Niger Hall</c:v>
                </c:pt>
                <c:pt idx="1">
                  <c:v>Volta Hall</c:v>
                </c:pt>
                <c:pt idx="2">
                  <c:v>Limpopo Hall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41.9</c:v>
                </c:pt>
                <c:pt idx="1">
                  <c:v>31.4</c:v>
                </c:pt>
                <c:pt idx="2">
                  <c:v>41.9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C8-1149-8DB7-3F02FAA237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CFU/m3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A62C9-81F5-8C42-B4E9-4C11F06AD3D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72498-58F9-ED4D-AFBF-BC80CBF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0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26707" y="1107640"/>
            <a:ext cx="47099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b="1" kern="0" spc="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FACULTY OF NATURAL AND APPLIED SCIENCES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31292" y="1306485"/>
            <a:ext cx="41007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Department of Biology, Microbiology and Biotechnology</a:t>
            </a:r>
            <a:endParaRPr lang="en-US" sz="1100" b="1" dirty="0"/>
          </a:p>
        </p:txBody>
      </p:sp>
      <p:sp>
        <p:nvSpPr>
          <p:cNvPr id="5" name="Text 3"/>
          <p:cNvSpPr/>
          <p:nvPr/>
        </p:nvSpPr>
        <p:spPr>
          <a:xfrm>
            <a:off x="4317950" y="1558379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1850380"/>
            <a:ext cx="8636000" cy="128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2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Assessment of Microflora of Indoor Air in Reception Areas of Some Academic Buildings at Nile University of Nigeria, Abuja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950" y="3242072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75865" y="3534073"/>
            <a:ext cx="159227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85996" y="3783324"/>
            <a:ext cx="21718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Aisha Salisu Isansi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87402" y="4073723"/>
            <a:ext cx="21690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Matric Number: 20222899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F1705F-E883-09B8-CE5C-B47457888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234" y="167922"/>
            <a:ext cx="2205216" cy="864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261900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1.0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85344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Background to the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339453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314152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Indoor air quality (IAQ) has emerged as a critical global public health concern, especially as urban populations spend up to 90% of their lives in enclosed environments (WHO, 2009).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92360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898303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Biological Bioaerosols: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Airborne fungi are ubiquitous biological pollutants capable of growing on materials under high relative humidity.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50775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482453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Resilience and Dissemination: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Fungi replicate via microscopic spores which are aerosolized by ventilation systems and occupant activities.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09190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3066604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Tropical Climate Context: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Tropical environments in Abuja experience warm, dry conditions during the dry season that influence airborne fungal loads and spore dissemination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78265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1.0 Introduction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85344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Statement of the Research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339453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314152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Lack of Routine Air Quality Monitoring: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Despite high occupant density in academic buildings, there is a total lack of systematic air monitoring systems in West African educational spaces.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92360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898303"/>
            <a:ext cx="814773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Elevated Microbial Exposure Risks: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High human occupancy combined with natural/mechanical ventilation limitations can lead to fungal concentrations exceeding standard limits, resulting in Sick Building Syndrome (SBS).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73635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711053"/>
            <a:ext cx="814773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Emerging Global Antifungal Resistance: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Widespread agricultural and clinical overuse of antimicrobials has triggered environmental selection pressure, raising the threat of multi-drug resistant environmental mould strains.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54910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3523804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Paucity of Local Data: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There is a lack of published baseline research regarding culturable fungal concentrations (CFU/m3) and their susceptibility profile in the Abuja Federal Capital Territory.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78265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1.0 Introduction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12750"/>
            <a:ext cx="85344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Justification of the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212503"/>
            <a:ext cx="85344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Conducting this research at Nile University of Nigeria is highly timely and necessary for the following crucial reasons: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600" y="1611064"/>
            <a:ext cx="2438400" cy="2436912"/>
          </a:xfrm>
          <a:prstGeom prst="roundRect">
            <a:avLst>
              <a:gd name="adj" fmla="val 52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1611064"/>
            <a:ext cx="0" cy="24369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375" y="1814215"/>
            <a:ext cx="2083698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Occupant Health Safety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0375" y="2377976"/>
            <a:ext cx="2083698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University reception areas serve as primary transit hubs where students, staff, and visitors gather. Controlling bioaerosols directly prevents chronic respiratory illnesses.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51150" y="1611064"/>
            <a:ext cx="2438400" cy="2436912"/>
          </a:xfrm>
          <a:prstGeom prst="roundRect">
            <a:avLst>
              <a:gd name="adj" fmla="val 52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74963" y="1611064"/>
            <a:ext cx="0" cy="24369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1926" y="1814215"/>
            <a:ext cx="2083698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Antifungal Resistance Mapping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1926" y="2377976"/>
            <a:ext cx="2083698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Establishing susceptibility maps of airborne opportunistic moulds (like Aspergillus and Penicillium) aids clinical prophylaxis in the event of local outbreaks.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2701" y="1611064"/>
            <a:ext cx="2438400" cy="2436912"/>
          </a:xfrm>
          <a:prstGeom prst="roundRect">
            <a:avLst>
              <a:gd name="adj" fmla="val 52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16513" y="1611064"/>
            <a:ext cx="0" cy="24369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3476" y="1814215"/>
            <a:ext cx="2083698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Facility Remediation Guidelines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3476" y="2377976"/>
            <a:ext cx="2083698" cy="158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Understanding concentrations during the dry season empowers administrators to optimize HVAC filters, cleaning cycles, and architectural air-exchanges.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43495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Aims and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8051"/>
            <a:ext cx="8321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Overall Aim:</a:t>
            </a:r>
            <a:r>
              <a:rPr lang="en-US" sz="1200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To isolate, identify, and determine the in vitro antifungal susceptibility profiles of indoor airborne fungi recovered from selected academic reception environments at Nile University of Nigeria, Abuja, during the dry season.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752302"/>
            <a:ext cx="7924800" cy="12650"/>
          </a:xfrm>
          <a:prstGeom prst="rect">
            <a:avLst/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917204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Specific Objectives: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28272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1462" y="2360414"/>
            <a:ext cx="12672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2101" y="2282726"/>
            <a:ext cx="78144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Isolation and Morphological Identification: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Isolate airborne fungi and identify them down to species level using macro-morphological and micro-morphological indicators.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8414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1462" y="2919115"/>
            <a:ext cx="12672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2101" y="2841427"/>
            <a:ext cx="78144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Density and Distribution Mapping: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Determine colony counts and map estimated fungal concentrations (CFU/m3) across selected university halls for morning and afternoon periods.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4001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1462" y="3477816"/>
            <a:ext cx="12672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2101" y="3400127"/>
            <a:ext cx="78144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Susceptibility Screening: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Analyze in vitro susceptibility of isolates against commonly used antimycotics (Ketoconazole, Fluconazole, and Griseofulvin) using the agar well diffusion technique.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417146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Significance of the Study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This study establishes baseline mycological safety data, directly benefiting three distinct stakeholders: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305223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279922"/>
            <a:ext cx="836935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University Administrators and Facilities Managers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4650" y="1545134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Provides empirical grounds to justify HVAC filter retrofits, dampness remediation, and disinfection schedules in reception areas.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80034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650" y="2154734"/>
            <a:ext cx="836935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Public Health and Medical Professionals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4650" y="2419945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Contributes critical resistance tracking metrics showing intrinsic resistance patterns (such as total fluconazole resistance) in environmental moulds.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054846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3029545"/>
            <a:ext cx="836935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Academic Research Community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4650" y="3294757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Expands the clinical mycology literature regarding tropical aerobiology in West African higher education ecosystems.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76423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Materials and Methods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8051"/>
            <a:ext cx="85344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Study Area and Experimental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263104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237804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Location: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Nile University of Nigeria, Abuja FCT. High-density campus buildings serving academic and administrative hubs.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821805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796504"/>
            <a:ext cx="83623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Sample Sites: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Common reception areas of three core structures: Niger Hall, Volta Hall, and Limpopo Hall.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253407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228106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Temporal Analysis: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Cross-sectional study analyzing variations between early morning (8:00-10:00 AM) and afternoon (2:00-4:00 PM) intervals.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812107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2786807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Climatic Variable: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Conducted in dry season, characterized by dry dust-laden Harmattan trade wind.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370808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4650" y="3345507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Sampling Scheme: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3 buildings x 2 periods (AM/PM) x duplicate sampling plates exposed for 15 minutes each at key transit center points.</a:t>
            </a:r>
            <a:endParaRPr lang="en-US" sz="1200" dirty="0"/>
          </a:p>
        </p:txBody>
      </p:sp>
      <p:sp>
        <p:nvSpPr>
          <p:cNvPr id="15" name="Text 22"/>
          <p:cNvSpPr/>
          <p:nvPr/>
        </p:nvSpPr>
        <p:spPr>
          <a:xfrm>
            <a:off x="609600" y="3929508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23"/>
          <p:cNvSpPr/>
          <p:nvPr/>
        </p:nvSpPr>
        <p:spPr>
          <a:xfrm>
            <a:off x="774650" y="3904208"/>
            <a:ext cx="8147737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Statistic: Descriptive statistics including frequency distributions, relative abundances, and diversity indices (Shannon-Wiener, Pielou’s Evenness, Simpson’s).</a:t>
            </a:r>
            <a:endParaRPr lang="en-US" sz="1100" dirty="0"/>
          </a:p>
        </p:txBody>
      </p:sp>
      <p:sp>
        <p:nvSpPr>
          <p:cNvPr id="17" name="Text 24"/>
          <p:cNvSpPr/>
          <p:nvPr/>
        </p:nvSpPr>
        <p:spPr>
          <a:xfrm>
            <a:off x="609600" y="4488208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25"/>
          <p:cNvSpPr/>
          <p:nvPr/>
        </p:nvSpPr>
        <p:spPr>
          <a:xfrm>
            <a:off x="774650" y="4462908"/>
            <a:ext cx="8147737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Niger Hall: Occupancy and colony movement – afternoon counts increased 33% from AM to PM, reflecting late-occupancy activity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492788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Materials and Methods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787301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Sample Collection and Mathematical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127373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102072"/>
            <a:ext cx="6982435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Active Media: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SDA supplemented with chloramphenicol (50 µg/mL) to inhibit bacterial growth.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69975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444675"/>
            <a:ext cx="8147737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Exposure Method: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Average settling 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24496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1899196"/>
            <a:ext cx="539263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Volumetric Concentration: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Calculated using Omeliansky's Formula (1923).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2267099"/>
            <a:ext cx="7924800" cy="919311"/>
          </a:xfrm>
          <a:prstGeom prst="roundRect">
            <a:avLst>
              <a:gd name="adj" fmla="val 1105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33412" y="2267099"/>
            <a:ext cx="0" cy="919311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926" y="2394049"/>
            <a:ext cx="827395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Omeliansky's Formula: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926" y="2630239"/>
            <a:ext cx="8273951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CFU/m³ = (n × 10⁴) / (π × r² × 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4926" y="2863900"/>
            <a:ext cx="8273951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where n = colonies, r = Petri plate radius (cm), t = exposure time (15 min), correction factor is 10⁴–10⁵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3300561"/>
            <a:ext cx="7924800" cy="12650"/>
          </a:xfrm>
          <a:prstGeom prst="rect">
            <a:avLst/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3401913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Taxonomic Identification and Susceptibility Protocols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3741986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4650" y="3716685"/>
            <a:ext cx="516835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Incubation: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25-28 °C for 5-7 days. Subcultured to ensure purity.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4084588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4650" y="4059287"/>
            <a:ext cx="5060305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Microscopic Characterization: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LPCB wet mounts under x40 and x100.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4427190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4650" y="4401889"/>
            <a:ext cx="8147737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Susceptibility Testing: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Agar well diffusion. Ketoconazole (50 µg/mL), Fluconazole (25 µg/mL), Griseofulvin (100 µg/mL).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781291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Results: Volumetric Bioaerosol Concentrations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8051"/>
            <a:ext cx="4000500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total of 46 fungal colonies were recovered from 12 plates. All sampling sites recorded concentrations within the WHO safe boundary of 50 CFU/m3.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602284"/>
            <a:ext cx="38100" cy="3810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201" y="1576983"/>
            <a:ext cx="3853919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Morning Spikes: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Volta Hall AM (47.2 CFU/m3) and Limpopo Hall AM (47.2 CFU/m3) approached the WHO limit but remained within safe boundaries.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32434"/>
            <a:ext cx="38100" cy="3810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201" y="2307134"/>
            <a:ext cx="3853919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Afternoon Reductions: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Volta decreased to 31.4 CFU/m3 (45% drop) and Limpopo to 41.9 CFU/m3, likely due to continuous air conditioning filtration.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3062585"/>
            <a:ext cx="38100" cy="3810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9201" y="3037284"/>
            <a:ext cx="3853919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Niger Hall Exception: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Increased from 31.4 (AM) to 41.9 CFU/m3 (PM) (33% increase), corresponding to increased afternoon occupancy.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673501" y="838051"/>
          <a:ext cx="3555950" cy="4000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853440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Results: ​Macroscopic and Microscopic Identification of Isolates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0350" y="2732633"/>
            <a:ext cx="7823299" cy="0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18826A6-D7C5-DCCA-69F7-48D7E38ADA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816" y="903451"/>
            <a:ext cx="2237944" cy="22759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4E8A98D-1C96-DDD4-B0BE-0E7D34918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077" y="998700"/>
            <a:ext cx="2490458" cy="227596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57F24A1-C1A2-F00E-E250-FB9BBE6F9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852" y="903450"/>
            <a:ext cx="2336234" cy="227596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D95505A-93D5-6E87-3FBE-53F5F09B0E2B}"/>
              </a:ext>
            </a:extLst>
          </p:cNvPr>
          <p:cNvSpPr txBox="1"/>
          <p:nvPr/>
        </p:nvSpPr>
        <p:spPr>
          <a:xfrm>
            <a:off x="788816" y="3233649"/>
            <a:ext cx="2490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Aspergillus</a:t>
            </a:r>
            <a:r>
              <a:rPr lang="en-US" b="1" dirty="0"/>
              <a:t> </a:t>
            </a:r>
            <a:r>
              <a:rPr lang="en-US" b="1" dirty="0" err="1"/>
              <a:t>niger</a:t>
            </a:r>
            <a:r>
              <a:rPr lang="en-US" b="1" dirty="0"/>
              <a:t> (black strain) showing black, powdery colonies and microscopic large globose vesicles with dark conidia.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9FBC77-A1DB-24B9-E97A-558FDE332126}"/>
              </a:ext>
            </a:extLst>
          </p:cNvPr>
          <p:cNvSpPr txBox="1"/>
          <p:nvPr/>
        </p:nvSpPr>
        <p:spPr>
          <a:xfrm>
            <a:off x="3483077" y="3327594"/>
            <a:ext cx="2721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Aspergillus</a:t>
            </a:r>
            <a:r>
              <a:rPr lang="en-US" b="1" dirty="0"/>
              <a:t> </a:t>
            </a:r>
            <a:r>
              <a:rPr lang="en-US" b="1" dirty="0" err="1"/>
              <a:t>flavus</a:t>
            </a:r>
            <a:r>
              <a:rPr lang="en-US" b="1" dirty="0"/>
              <a:t> featuring yellow-green, granular colonies with radiate conidial heads and rough-walled conidiophores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3ADC66-5219-C8EA-0039-F77EC3FE14AC}"/>
              </a:ext>
            </a:extLst>
          </p:cNvPr>
          <p:cNvSpPr txBox="1"/>
          <p:nvPr/>
        </p:nvSpPr>
        <p:spPr>
          <a:xfrm>
            <a:off x="6338435" y="3400652"/>
            <a:ext cx="2519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Aspergillus</a:t>
            </a:r>
            <a:r>
              <a:rPr lang="en-US" b="1" dirty="0"/>
              <a:t> </a:t>
            </a:r>
            <a:r>
              <a:rPr lang="en-US" b="1" dirty="0" err="1"/>
              <a:t>niger</a:t>
            </a:r>
            <a:r>
              <a:rPr lang="en-US" b="1" dirty="0"/>
              <a:t> (white strain) displaying white, cottony colonies with globose vesicles and hyaline conidia.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4773" y="138962"/>
            <a:ext cx="8939228" cy="39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Results: Species ​Macroscopic and Microscopic Identification of Isolates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0350" y="2732633"/>
            <a:ext cx="7823299" cy="0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8EF41-1B09-B23D-50CB-ADE63802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39" y="934928"/>
            <a:ext cx="2468879" cy="2403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211A9C-2F92-49E7-B762-CDAF49BD7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877" y="876236"/>
            <a:ext cx="2377016" cy="24035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D69BBE-8F3F-598E-ED12-723EAF335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7" y="934928"/>
            <a:ext cx="2709390" cy="23246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F765FB8-2542-E215-C70D-02B2857C5271}"/>
              </a:ext>
            </a:extLst>
          </p:cNvPr>
          <p:cNvSpPr txBox="1"/>
          <p:nvPr/>
        </p:nvSpPr>
        <p:spPr>
          <a:xfrm>
            <a:off x="786040" y="3338440"/>
            <a:ext cx="2468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Aspergillus</a:t>
            </a:r>
            <a:r>
              <a:rPr lang="en-US" b="1" dirty="0"/>
              <a:t> </a:t>
            </a:r>
            <a:r>
              <a:rPr lang="en-US" b="1" dirty="0" err="1"/>
              <a:t>fumigatus</a:t>
            </a:r>
            <a:r>
              <a:rPr lang="en-US" b="1" dirty="0"/>
              <a:t> showing </a:t>
            </a:r>
            <a:r>
              <a:rPr lang="en-US" b="1" dirty="0" err="1"/>
              <a:t>smokey</a:t>
            </a:r>
            <a:r>
              <a:rPr lang="en-US" b="1" dirty="0"/>
              <a:t> blue-green, velvety colonies with columnar conidial heads.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71CC8B-CA58-0B3E-CF83-29A8F29AB3B3}"/>
              </a:ext>
            </a:extLst>
          </p:cNvPr>
          <p:cNvSpPr txBox="1"/>
          <p:nvPr/>
        </p:nvSpPr>
        <p:spPr>
          <a:xfrm>
            <a:off x="3653877" y="3469908"/>
            <a:ext cx="27093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Penicillium</a:t>
            </a:r>
            <a:r>
              <a:rPr lang="en-US" b="1" dirty="0"/>
              <a:t> </a:t>
            </a:r>
            <a:r>
              <a:rPr lang="en-US" b="1" dirty="0" err="1"/>
              <a:t>chrysogenum</a:t>
            </a:r>
            <a:r>
              <a:rPr lang="en-US" b="1" dirty="0"/>
              <a:t> highlighting blue-green colonies with yellow exudate and distinct brush-like </a:t>
            </a:r>
            <a:r>
              <a:rPr lang="en-US" b="1" dirty="0" err="1"/>
              <a:t>penicilli</a:t>
            </a:r>
            <a:r>
              <a:rPr lang="en-US" b="1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345F2D-F22F-4407-B264-94FA9C9B9CDA}"/>
              </a:ext>
            </a:extLst>
          </p:cNvPr>
          <p:cNvSpPr txBox="1"/>
          <p:nvPr/>
        </p:nvSpPr>
        <p:spPr>
          <a:xfrm>
            <a:off x="6320103" y="3469908"/>
            <a:ext cx="2823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Trichoderma</a:t>
            </a:r>
            <a:r>
              <a:rPr lang="en-US" b="1" dirty="0"/>
              <a:t> </a:t>
            </a:r>
            <a:r>
              <a:rPr lang="en-US" b="1" dirty="0" err="1"/>
              <a:t>erinaceum</a:t>
            </a:r>
            <a:r>
              <a:rPr lang="en-US" b="1" dirty="0"/>
              <a:t> showing white, cottony colonies with rapidly branching conidiophores and green conidia clusters.</a:t>
            </a:r>
          </a:p>
        </p:txBody>
      </p:sp>
    </p:spTree>
    <p:extLst>
      <p:ext uri="{BB962C8B-B14F-4D97-AF65-F5344CB8AC3E}">
        <p14:creationId xmlns:p14="http://schemas.microsoft.com/office/powerpoint/2010/main" val="17353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199254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39552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914251"/>
            <a:ext cx="8147737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three academic reception halls recorded indoor fungal concentrations within the WHO safe boundary of 50 CFU/m3, though morning values at Volta Hall and Limpopo Hall approached this threshold, indicating potential risk during peak occupancy.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970931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4650" y="1945630"/>
            <a:ext cx="8147737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Six fungal species were identified, with Aspergillus niger consistently recovered across all buildings, highlighting its prevalence in indoor academic environments in tropical settings.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717750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650" y="2692450"/>
            <a:ext cx="8147737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isolates demonstrated 100% resistance to Fluconazole, while showing high susceptibility to Ketoconazole, suggesting Ketoconazole as the most effective therapeutic option for environmental mould infections in this region.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749129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3723829"/>
            <a:ext cx="8147737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 evenness indices suggest a balanced mycobiota with no single pathogen dominating, but the consistent presence of opportunistic moulds warrants ongoing surveillance.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12408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39552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914251"/>
            <a:ext cx="8147737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Implementation of routine indoor air quality monitoring programmes in all academic buildings, particularly during morning hours when fungal concentrations peak.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8650" y="2114550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649" y="2023098"/>
            <a:ext cx="8147737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Further research incorporating seasonal comparisons (dry vs. wet season) and molecular identification methods to provide a more comprehensive understanding of indoor aeromycota.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464570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3439269"/>
            <a:ext cx="8147737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Clinical awareness campaigns regarding the total Fluconazole resistance observed in environmental mould isolates, to guide empirical therapy decisions in the FCT region.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1973239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8321040" cy="72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Arendrup, M. C., Meletiadis, J., Mouton, J. W., Lagrou, K., Hamal, P. and Guinea, J. (2022). Method for the determination of broth dilution minimum inhibitory concentrations of antifungal agents for conidia forming moulds. EUCAST Definitive Document E.DEF 9.3.2.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661071"/>
            <a:ext cx="8321040" cy="48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 Health Organization (WHO). (2009). WHO Guidelines for Indoor Air Quality: Dampness and Mould. WHO Regional Office for Europe, Copenhagen.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600" y="2235101"/>
            <a:ext cx="8534400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Omeliansky, V. L. (1923). A method for the bacteriological examination of air. Journal of Hygiene, 22(1), 1-12.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585591"/>
            <a:ext cx="8534400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Shannon, C. E. and Weaver, W. (1949). The Mathematical Theory of Communication. University of Illinois Press, Urbana.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2936081"/>
            <a:ext cx="8534400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Simpson, E. H. (1949). Measurement of diversity. Nature, 163(4148), 688.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74441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2176165"/>
            <a:ext cx="8595360" cy="66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3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267200" y="2941886"/>
            <a:ext cx="60960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77452" y="3132386"/>
            <a:ext cx="21890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 LISTENING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853440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787301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Species Composition and Diversity Indices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8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812751"/>
            <a:ext cx="8147737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Species Composition: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Six fungal species identified: Aspergillus niger (black strain, 26.1%), Aspergillus flavus (21.7%), Aspergillus niger (white strain, 17.4%), Penicillium chrysogenum (15.2%), Aspergillus fumigatus (10.9%), and Trichoderma erinaceum (8.7%).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5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512751"/>
            <a:ext cx="8147737" cy="7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Shannon-Wiener Index (H′):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 diversity across all buildings: Niger Hall (1.773), Volta Hall (1.714), and Limpopo Hall (1.646), reflecting a diverse indoor mycobiota.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2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212751"/>
            <a:ext cx="8147737" cy="7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Pielou’s Evenness (J):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Values ranged from 0.919 (Limpopo Hall) to 0.989 (Niger Hall), indicating equitable species distribution with no single pathogen dominating.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9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2912751"/>
            <a:ext cx="8147737" cy="74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Simpson’s Diversity (1–D):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Ranged from 0.789 (Limpopo Hall) to 0.827 (Niger Hall), further confirming high species diversity across all sampled buildings.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6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4650" y="3612751"/>
            <a:ext cx="8147737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Dominant Species: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Aspergillus niger (black strain) was consistently the most frequently isolated species across all three buildings, with highest prevalence in Limpopo Hall (5 isolates).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853440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787301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Antifungal Susceptibility Profiling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8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812751"/>
            <a:ext cx="8147737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Ketoconazole (50 µg/mL):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Most effective agent with mean inhibition zones of 13–22 mm. A. niger (black) and A. fumigatus were the most susceptible (22 mm and 21 mm respectively).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5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512751"/>
            <a:ext cx="8147737" cy="71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Fluconazole (25 µg/mL):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 inhibitory activity observed (0 mm zones) against all tested species, confirming 100% intrinsic resistance across all isolates.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2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212751"/>
            <a:ext cx="8147737" cy="79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Griseofulvin (100 µg/mL):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Least active agent with mean zones of 8–17 mm. A. fumigatus showed the highest susceptibility (17 mm); T. erinaceum showed the least (8 mm).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9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2912751"/>
            <a:ext cx="8147737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Trichoderma erinaceum: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Showed the greatest resistance among all tested species, with resistant category responses to all three antifungal agents including ketoconazole (13 mm).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6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4650" y="3612751"/>
            <a:ext cx="8147737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Clinical Implication: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Ketoconazole is the most effective therapeutic option for environmental mould infections in this region; fluconazole resistance warrants clinical awareness.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853440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Discussion and Key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787301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Interpretation of Findings and Actionable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8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812751"/>
            <a:ext cx="8147737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Indoor Air Quality: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three buildings complied with WHO guideline of 50 CFU/m³. HVAC filtration effectively reduced afternoon concentrations in Volta and Limpopo Halls. Niger Hall showed a 33% PM increase linked to occupancy.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5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512751"/>
            <a:ext cx="8147737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Fungal Diversity: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 Shannon-Wiener indices (1.646–1.773) and evenness values (0.919–0.989) indicate balanced mycobiota. The predominance of Aspergillus species is consistent with tropical educational settings.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2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212751"/>
            <a:ext cx="8147737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Antifungal Resistance: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Total fluconazole resistance across all isolates is clinically significant. Environmental selection pressure from agricultural and clinical antifungal overuse may be contributing to emerging resistance.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9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2912751"/>
            <a:ext cx="8147737" cy="6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Recommendation 1: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Implement routine indoor air quality monitoring programmes in all academic buildings, particularly during morning peak hours.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6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4650" y="3612751"/>
            <a:ext cx="8147737" cy="74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Recommendation 2: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Conduct further research with seasonal comparisons (dry vs. wet season) and molecular identification methods for comprehensive aeromycota profiling.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4338051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4650" y="4312751"/>
            <a:ext cx="8147737" cy="7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Recommendation 3: 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Launch clinical awareness campaigns regarding fluconazole resistance in environmental moulds to guide empirical therapy in the FCT region.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Fungal Microflora of Indoor Air in Reception Areas of Academic Buildings at Nile University of Nigeria, Abuja</dc:title>
  <dc:subject>PptxGenJS Presentation</dc:subject>
  <dc:creator>Aisha Salisu Isansi</dc:creator>
  <cp:lastModifiedBy>Sani Zaharadeen</cp:lastModifiedBy>
  <cp:revision>2</cp:revision>
  <dcterms:created xsi:type="dcterms:W3CDTF">2026-06-08T05:16:22Z</dcterms:created>
  <dcterms:modified xsi:type="dcterms:W3CDTF">2026-06-08T06:06:57Z</dcterms:modified>
</cp:coreProperties>
</file>