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jpe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B2A4A"/>
                </a:solidFill>
                <a:latin typeface="Arial"/>
              </a:rPr>
              <a:t>CFU/m3 by Building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Niger Hall</c:v>
                </c:pt>
                <c:pt idx="1">
                  <c:v>Volta Hall</c:v>
                </c:pt>
                <c:pt idx="2">
                  <c:v>Limpopo Hall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31.4</c:v>
                </c:pt>
                <c:pt idx="1">
                  <c:v>47.2</c:v>
                </c:pt>
                <c:pt idx="2">
                  <c:v>47.2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C8-1149-8DB7-3F02FAA237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PM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Niger Hall</c:v>
                </c:pt>
                <c:pt idx="1">
                  <c:v>Volta Hall</c:v>
                </c:pt>
                <c:pt idx="2">
                  <c:v>Limpopo Hall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41.9</c:v>
                </c:pt>
                <c:pt idx="1">
                  <c:v>31.4</c:v>
                </c:pt>
                <c:pt idx="2">
                  <c:v>41.9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DC8-1149-8DB7-3F02FAA237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900" b="0" i="0" u="none" strike="noStrike">
                    <a:solidFill>
                      <a:srgbClr val="000000"/>
                    </a:solidFill>
                    <a:latin typeface="Arial"/>
                  </a:rPr>
                  <a:t>CFU/m3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3A62C9-81F5-8C42-B4E9-4C11F06AD3DC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D72498-58F9-ED4D-AFBF-BC80CBF30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807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4.jpeg" /><Relationship Id="rId4" Type="http://schemas.openxmlformats.org/officeDocument/2006/relationships/image" Target="../media/image3.jpe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7.jpeg" /><Relationship Id="rId4" Type="http://schemas.openxmlformats.org/officeDocument/2006/relationships/image" Target="../media/image6.jpeg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26707" y="1107640"/>
            <a:ext cx="47099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100" b="1" kern="0" spc="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FACULTY OF NATURAL AND APPLIED SCIENCES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531292" y="1306485"/>
            <a:ext cx="41007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0"/>
              </a:spcAft>
              <a:buNone/>
            </a:pPr>
            <a:r>
              <a:rPr lang="en-US" sz="1100" b="1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Department of Biology, Microbiology and Biotechnology</a:t>
            </a:r>
            <a:endParaRPr lang="en-US" sz="1100" b="1" dirty="0"/>
          </a:p>
        </p:txBody>
      </p:sp>
      <p:sp>
        <p:nvSpPr>
          <p:cNvPr id="5" name="Text 3"/>
          <p:cNvSpPr/>
          <p:nvPr/>
        </p:nvSpPr>
        <p:spPr>
          <a:xfrm>
            <a:off x="4317950" y="1558379"/>
            <a:ext cx="507950" cy="3810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1850380"/>
            <a:ext cx="8636000" cy="128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20"/>
              </a:lnSpc>
              <a:spcAft>
                <a:spcPts val="1600"/>
              </a:spcAft>
              <a:buNone/>
            </a:pPr>
            <a:r>
              <a:rPr lang="en-US" sz="24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Fungal Microflora of Indoor Air in Reception Areas of Academic Buildings at Nile University of Nigeria, Abuja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7950" y="3242072"/>
            <a:ext cx="507950" cy="3810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75865" y="3534073"/>
            <a:ext cx="159227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PRESENTED BY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85996" y="3783324"/>
            <a:ext cx="217185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Aisha Salisu Isansi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87402" y="4073723"/>
            <a:ext cx="216904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Matric Number: 20222899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0" y="5092750"/>
            <a:ext cx="9144000" cy="5075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0F1705F-E883-09B8-CE5C-B47457888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234" y="167922"/>
            <a:ext cx="2205216" cy="8647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5525"/>
            <a:ext cx="2619003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1.0 Introduction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63501"/>
            <a:ext cx="8534400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Background to the Study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9600" y="1339453"/>
            <a:ext cx="38100" cy="3555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4650" y="1314152"/>
            <a:ext cx="814773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Indoor air quality (IAQ) has emerged as a critical global public health concern, especially as urban populations spend up to 90% of their lives in enclosed environments (WHO, 2009).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1923604"/>
            <a:ext cx="38100" cy="3555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4650" y="1898303"/>
            <a:ext cx="814773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Biological Bioaerosols: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Airborne fungi are ubiquitous biological pollutants capable of growing on materials under high relative humidity.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2507754"/>
            <a:ext cx="38100" cy="3555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4650" y="2482453"/>
            <a:ext cx="814773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Resilience and Dissemination: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Fungi replicate via microscopic spores which are aerosolized by ventilation systems and occupant activities.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3091904"/>
            <a:ext cx="38100" cy="3555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4650" y="3066604"/>
            <a:ext cx="814773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Tropical Climate Context: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Tropical environments in Abuja experience warm, dry conditions during the dry season that influence airborne fungal loads and spore dissemination patterns.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5525"/>
            <a:ext cx="3782653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1.0 Introduction (cont.)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63501"/>
            <a:ext cx="8534400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Statement of the Research Problem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9600" y="1339453"/>
            <a:ext cx="38100" cy="3555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4650" y="1314152"/>
            <a:ext cx="814773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Lack of Routine Air Quality Monitoring: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Despite high occupant density in academic buildings, there is a total lack of systematic air monitoring systems in West African educational spaces.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1923604"/>
            <a:ext cx="38100" cy="3555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4650" y="1898303"/>
            <a:ext cx="8147737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Elevated Microbial Exposure Risks: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High human occupancy combined with natural/mechanical ventilation limitations can lead to fungal concentrations exceeding standard limits, resulting in Sick Building Syndrome (SBS).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2736354"/>
            <a:ext cx="38100" cy="3555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4650" y="2711053"/>
            <a:ext cx="8147737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Emerging Global Antifungal Resistance: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Widespread agricultural and clinical overuse of antimicrobials has triggered environmental selection pressure, raising the threat of multi-drug resistant environmental mould strains.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3549104"/>
            <a:ext cx="38100" cy="3555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4650" y="3523804"/>
            <a:ext cx="814773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Paucity of Local Data: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There is a lack of published baseline research regarding culturable fungal concentrations (CFU/m3) and their susceptibility profile in the Abuja Federal Capital Territory.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5525"/>
            <a:ext cx="3782653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1.0 Introduction (cont.)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12750"/>
            <a:ext cx="8534400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Justification of the Study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9600" y="1212503"/>
            <a:ext cx="853440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Conducting this research at Nile University of Nigeria is highly timely and necessary for the following crucial reasons: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600" y="1611064"/>
            <a:ext cx="2438400" cy="2436912"/>
          </a:xfrm>
          <a:prstGeom prst="roundRect">
            <a:avLst>
              <a:gd name="adj" fmla="val 521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3412" y="1611064"/>
            <a:ext cx="0" cy="2436912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0375" y="1814215"/>
            <a:ext cx="2083698" cy="499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Occupant Health Safety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0375" y="2377976"/>
            <a:ext cx="2083698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University reception areas serve as primary transit hubs where students, staff, and visitors gather. Controlling bioaerosols directly prevents chronic respiratory illnesses.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51150" y="1611064"/>
            <a:ext cx="2438400" cy="2436912"/>
          </a:xfrm>
          <a:prstGeom prst="roundRect">
            <a:avLst>
              <a:gd name="adj" fmla="val 521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74963" y="1611064"/>
            <a:ext cx="0" cy="2436912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1926" y="1814215"/>
            <a:ext cx="2083698" cy="499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Antifungal Resistance Mapping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01926" y="2377976"/>
            <a:ext cx="2083698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Establishing susceptibility maps of airborne opportunistic moulds (like Aspergillus and Penicillium) aids clinical prophylaxis in the event of local outbreaks.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92701" y="1611064"/>
            <a:ext cx="2438400" cy="2436912"/>
          </a:xfrm>
          <a:prstGeom prst="roundRect">
            <a:avLst>
              <a:gd name="adj" fmla="val 521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916513" y="1611064"/>
            <a:ext cx="0" cy="2436912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3476" y="1814215"/>
            <a:ext cx="2083698" cy="499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Facility Remediation Guidelines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43476" y="2377976"/>
            <a:ext cx="2083698" cy="1584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Understanding concentrations during the dry season empowers administrators to optimize HVAC filters, cleaning cycles, and architectural air-exchanges.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5525"/>
            <a:ext cx="3434953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Aims and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38051"/>
            <a:ext cx="83210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Overall Aim:</a:t>
            </a:r>
            <a:r>
              <a:rPr lang="en-US" sz="1200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To isolate, identify, and determine the in vitro antifungal susceptibility profiles of indoor airborne fungi recovered from selected academic reception environments at Nile University of Nigeria, Abuja, during the dry season.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752302"/>
            <a:ext cx="7924800" cy="12650"/>
          </a:xfrm>
          <a:prstGeom prst="rect">
            <a:avLst/>
          </a:prstGeom>
          <a:solidFill>
            <a:srgbClr val="DFE8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1917204"/>
            <a:ext cx="8534400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Specific Objectives: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282726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1462" y="2360414"/>
            <a:ext cx="12672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2101" y="2282726"/>
            <a:ext cx="781441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Isolation and Morphological Identification: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Isolate airborne fungi and identify them down to species level using macro-morphological and micro-morphological indicators.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2841427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41462" y="2919115"/>
            <a:ext cx="12672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2101" y="2841427"/>
            <a:ext cx="781441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Density and Distribution Mapping: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Determine colony counts and map estimated fungal concentrations (CFU/m3) across selected university halls for morning and afternoon periods.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3400127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41462" y="3477816"/>
            <a:ext cx="12672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2101" y="3400127"/>
            <a:ext cx="781441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Susceptibility Screening: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Analyze in vitro susceptibility of isolates against commonly used antimycotics (Ketoconazole, Fluconazole, and Griseofulvin) using the agar well diffusion technique.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5525"/>
            <a:ext cx="4171466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Significance of the Study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63501"/>
            <a:ext cx="8534400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This study establishes baseline mycological safety data, directly benefiting three distinct stakeholders: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305223"/>
            <a:ext cx="38100" cy="5079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4650" y="1279922"/>
            <a:ext cx="8369350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University Administrators and Facilities Managers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4650" y="1545134"/>
            <a:ext cx="814773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Provides empirical grounds to justify HVAC filter retrofits, dampness remediation, and disinfection schedules in reception areas.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180034"/>
            <a:ext cx="38100" cy="5079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4650" y="2154734"/>
            <a:ext cx="8369350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Public Health and Medical Professionals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4650" y="2419945"/>
            <a:ext cx="814773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Contributes critical resistance tracking metrics showing intrinsic resistance patterns (such as total fluconazole resistance) in environmental moulds.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3054846"/>
            <a:ext cx="38100" cy="5079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4650" y="3029545"/>
            <a:ext cx="8369350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Academic Research Community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4650" y="3294757"/>
            <a:ext cx="814773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Expands the clinical mycology literature regarding tropical aerobiology in West African higher education ecosystems.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5525"/>
            <a:ext cx="3764235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Materials and Methods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38051"/>
            <a:ext cx="8534400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Study Area and Experimental Design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9600" y="1263104"/>
            <a:ext cx="38100" cy="3048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4650" y="1237804"/>
            <a:ext cx="814773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Location: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Nile University of Nigeria, Abuja FCT. High-density campus buildings serving academic and administrative hubs.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1821805"/>
            <a:ext cx="38100" cy="3048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4650" y="1796504"/>
            <a:ext cx="836235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Sample Sites: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Common reception areas of three core structures: Niger Hall, Volta Hall, and Limpopo Hall.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2253407"/>
            <a:ext cx="38100" cy="3048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4650" y="2228106"/>
            <a:ext cx="814773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Temporal Analysis: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Cross-sectional study analyzing variations between early morning (8:00-10:00 AM) and afternoon (2:00-4:00 PM) intervals.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2812107"/>
            <a:ext cx="38100" cy="3048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4650" y="2786807"/>
            <a:ext cx="814773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Climatic Variable: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Conducted in the dry season prior to the onset of harmattan, characterized by warm temperatures and reduced humidity.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3370808"/>
            <a:ext cx="38100" cy="3048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4650" y="3345507"/>
            <a:ext cx="814773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Sampling Scheme:</a:t>
            </a: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3 buildings x 2 periods (AM/PM) x duplicate sampling plates exposed for 15 minutes each at key transit center points.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5525"/>
            <a:ext cx="4927885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Materials and Methods (cont.)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787301"/>
            <a:ext cx="8534400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Sample Collection and Mathematical Conversion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127373"/>
            <a:ext cx="38100" cy="253901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4650" y="1102072"/>
            <a:ext cx="6982435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Active Media:</a:t>
            </a:r>
            <a:r>
              <a:rPr lang="en-US" sz="11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Sabouraud Dextrose Agar (SDA) supplemented with Chloramphenicol (50 ug/mL).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469975"/>
            <a:ext cx="38100" cy="253901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4650" y="1444675"/>
            <a:ext cx="8147737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Exposure Method:</a:t>
            </a:r>
            <a:r>
              <a:rPr lang="en-US" sz="11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Settle Plate (gravitational sedimentation). Petri dishes exposed at 1.0 metre height for exactly 15 minutes.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24496"/>
            <a:ext cx="38100" cy="253901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4650" y="1899196"/>
            <a:ext cx="5392638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Volumetric Concentration:</a:t>
            </a:r>
            <a:r>
              <a:rPr lang="en-US" sz="11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Calculated using Omeliansky's Formula (1923).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600" y="2267099"/>
            <a:ext cx="7924800" cy="919311"/>
          </a:xfrm>
          <a:prstGeom prst="roundRect">
            <a:avLst>
              <a:gd name="adj" fmla="val 1105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33412" y="2267099"/>
            <a:ext cx="0" cy="919311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4926" y="2394049"/>
            <a:ext cx="8273951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Omeliansky's Formula: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4926" y="2630239"/>
            <a:ext cx="8273951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CFU/m3 = (n x 10,000) / (pi x r2 x 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4926" y="2863900"/>
            <a:ext cx="8273951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 = colonies, r = 4.5 cm, t = 15 mins. Factor = 10.48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600" y="3300561"/>
            <a:ext cx="7924800" cy="12650"/>
          </a:xfrm>
          <a:prstGeom prst="rect">
            <a:avLst/>
          </a:prstGeom>
          <a:solidFill>
            <a:srgbClr val="DFE8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9600" y="3401913"/>
            <a:ext cx="8534400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Taxonomic Identification and Susceptibility Protocols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9600" y="3741986"/>
            <a:ext cx="38100" cy="253901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74650" y="3716685"/>
            <a:ext cx="5168354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Incubation:</a:t>
            </a:r>
            <a:r>
              <a:rPr lang="en-US" sz="11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25-28 degrees C for 5-7 days. Subcultured to ensure purity.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9600" y="4084588"/>
            <a:ext cx="38100" cy="253901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74650" y="4059287"/>
            <a:ext cx="5060305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Microscopic Characterization:</a:t>
            </a:r>
            <a:r>
              <a:rPr lang="en-US" sz="11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LPCB wet mounts under x40 and x100.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9600" y="4427190"/>
            <a:ext cx="38100" cy="253901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74650" y="4401889"/>
            <a:ext cx="8147737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Susceptibility Testing:</a:t>
            </a:r>
            <a:r>
              <a:rPr lang="en-US" sz="11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Agar well diffusion. Ketoconazole (50 ug/mL), Fluconazole (25 ug/mL), Griseofulvin (100 ug/mL).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5525"/>
            <a:ext cx="7812918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Results: Volumetric Bioaerosol Concentrations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38051"/>
            <a:ext cx="4000500" cy="633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 total of 46 fungal colonies were recovered from 12 plates. All sampling sites recorded concentrations within the WHO safe boundary of 50 CFU/m3.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600" y="1602284"/>
            <a:ext cx="38100" cy="3810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9201" y="1576983"/>
            <a:ext cx="3853919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Morning Spikes:</a:t>
            </a:r>
            <a:r>
              <a:rPr lang="en-US" sz="11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Volta Hall AM (47.2 CFU/m3) and Limpopo Hall AM (47.2 CFU/m3) approached the WHO limit but remained within safe boundaries.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2332434"/>
            <a:ext cx="38100" cy="3810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9201" y="2307134"/>
            <a:ext cx="3853919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Afternoon Reductions:</a:t>
            </a:r>
            <a:r>
              <a:rPr lang="en-US" sz="11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Volta decreased to 31.4 CFU/m3 (45% drop) and Limpopo to 41.9 CFU/m3, likely due to continuous air conditioning filtration.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3062585"/>
            <a:ext cx="38100" cy="3810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9201" y="3037284"/>
            <a:ext cx="3853919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Niger Hall Exception:</a:t>
            </a:r>
            <a:r>
              <a:rPr lang="en-US" sz="11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Increased from 31.4 (AM) to 41.9 CFU/m3 (PM) (33% increase), corresponding to increased afternoon occupancy.</a:t>
            </a:r>
            <a:endParaRPr lang="en-US" sz="11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673501" y="838051"/>
          <a:ext cx="3555950" cy="40006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5525"/>
            <a:ext cx="8534400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Results: ​Macroscopic and Microscopic Identification of Isolates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60350" y="2732633"/>
            <a:ext cx="7823299" cy="0"/>
          </a:xfrm>
          <a:prstGeom prst="line">
            <a:avLst/>
          </a:prstGeom>
          <a:noFill/>
          <a:ln w="9525">
            <a:solidFill>
              <a:srgbClr val="DFE8F2"/>
            </a:solidFill>
            <a:prstDash val="solid"/>
          </a:ln>
        </p:spPr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18826A6-D7C5-DCCA-69F7-48D7E38ADA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8816" y="903451"/>
            <a:ext cx="2237944" cy="227597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4E8A98D-1C96-DDD4-B0BE-0E7D34918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077" y="998700"/>
            <a:ext cx="2490458" cy="227596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57F24A1-C1A2-F00E-E250-FB9BBE6F94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852" y="903450"/>
            <a:ext cx="2336234" cy="227596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FD95505A-93D5-6E87-3FBE-53F5F09B0E2B}"/>
              </a:ext>
            </a:extLst>
          </p:cNvPr>
          <p:cNvSpPr txBox="1"/>
          <p:nvPr/>
        </p:nvSpPr>
        <p:spPr>
          <a:xfrm>
            <a:off x="788816" y="3233649"/>
            <a:ext cx="24904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 err="1"/>
              <a:t>Aspergillus</a:t>
            </a:r>
            <a:r>
              <a:rPr lang="en-US" b="1" dirty="0"/>
              <a:t> </a:t>
            </a:r>
            <a:r>
              <a:rPr lang="en-US" b="1" dirty="0" err="1"/>
              <a:t>niger</a:t>
            </a:r>
            <a:r>
              <a:rPr lang="en-US" b="1" dirty="0"/>
              <a:t> (black strain) showing black, powdery colonies and microscopic large globose vesicles with dark conidia.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9FBC77-A1DB-24B9-E97A-558FDE332126}"/>
              </a:ext>
            </a:extLst>
          </p:cNvPr>
          <p:cNvSpPr txBox="1"/>
          <p:nvPr/>
        </p:nvSpPr>
        <p:spPr>
          <a:xfrm>
            <a:off x="3483077" y="3327594"/>
            <a:ext cx="27217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 err="1"/>
              <a:t>Aspergillus</a:t>
            </a:r>
            <a:r>
              <a:rPr lang="en-US" b="1" dirty="0"/>
              <a:t> </a:t>
            </a:r>
            <a:r>
              <a:rPr lang="en-US" b="1" dirty="0" err="1"/>
              <a:t>flavus</a:t>
            </a:r>
            <a:r>
              <a:rPr lang="en-US" b="1" dirty="0"/>
              <a:t> featuring yellow-green, granular colonies with radiate conidial heads and rough-walled conidiophores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73ADC66-5219-C8EA-0039-F77EC3FE14AC}"/>
              </a:ext>
            </a:extLst>
          </p:cNvPr>
          <p:cNvSpPr txBox="1"/>
          <p:nvPr/>
        </p:nvSpPr>
        <p:spPr>
          <a:xfrm>
            <a:off x="6338435" y="3400652"/>
            <a:ext cx="25190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 err="1"/>
              <a:t>Aspergillus</a:t>
            </a:r>
            <a:r>
              <a:rPr lang="en-US" b="1" dirty="0"/>
              <a:t> </a:t>
            </a:r>
            <a:r>
              <a:rPr lang="en-US" b="1" dirty="0" err="1"/>
              <a:t>niger</a:t>
            </a:r>
            <a:r>
              <a:rPr lang="en-US" b="1" dirty="0"/>
              <a:t> (white strain) displaying white, cottony colonies with globose vesicles and hyaline conidia.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4773" y="138962"/>
            <a:ext cx="8939228" cy="39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Results: Species ​Macroscopic and Microscopic Identification of Isolates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60350" y="2732633"/>
            <a:ext cx="7823299" cy="0"/>
          </a:xfrm>
          <a:prstGeom prst="line">
            <a:avLst/>
          </a:prstGeom>
          <a:noFill/>
          <a:ln w="9525">
            <a:solidFill>
              <a:srgbClr val="DFE8F2"/>
            </a:solidFill>
            <a:prstDash val="solid"/>
          </a:ln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B8EF41-1B09-B23D-50CB-ADE638023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039" y="934928"/>
            <a:ext cx="2468879" cy="24035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211A9C-2F92-49E7-B762-CDAF49BD7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877" y="876236"/>
            <a:ext cx="2377016" cy="24035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D69BBE-8F3F-598E-ED12-723EAF3354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857" y="934928"/>
            <a:ext cx="2709390" cy="232460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F765FB8-2542-E215-C70D-02B2857C5271}"/>
              </a:ext>
            </a:extLst>
          </p:cNvPr>
          <p:cNvSpPr txBox="1"/>
          <p:nvPr/>
        </p:nvSpPr>
        <p:spPr>
          <a:xfrm>
            <a:off x="786040" y="3338440"/>
            <a:ext cx="24688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 err="1"/>
              <a:t>Aspergillus</a:t>
            </a:r>
            <a:r>
              <a:rPr lang="en-US" b="1" dirty="0"/>
              <a:t> </a:t>
            </a:r>
            <a:r>
              <a:rPr lang="en-US" b="1" dirty="0" err="1"/>
              <a:t>fumigatus</a:t>
            </a:r>
            <a:r>
              <a:rPr lang="en-US" b="1" dirty="0"/>
              <a:t> showing </a:t>
            </a:r>
            <a:r>
              <a:rPr lang="en-US" b="1" dirty="0" err="1"/>
              <a:t>smokey</a:t>
            </a:r>
            <a:r>
              <a:rPr lang="en-US" b="1" dirty="0"/>
              <a:t> blue-green, velvety colonies with columnar conidial heads.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71CC8B-CA58-0B3E-CF83-29A8F29AB3B3}"/>
              </a:ext>
            </a:extLst>
          </p:cNvPr>
          <p:cNvSpPr txBox="1"/>
          <p:nvPr/>
        </p:nvSpPr>
        <p:spPr>
          <a:xfrm>
            <a:off x="3653877" y="3469908"/>
            <a:ext cx="27093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 err="1"/>
              <a:t>Penicillium</a:t>
            </a:r>
            <a:r>
              <a:rPr lang="en-US" b="1" dirty="0"/>
              <a:t> </a:t>
            </a:r>
            <a:r>
              <a:rPr lang="en-US" b="1" dirty="0" err="1"/>
              <a:t>chrysogenum</a:t>
            </a:r>
            <a:r>
              <a:rPr lang="en-US" b="1" dirty="0"/>
              <a:t> highlighting blue-green colonies with yellow exudate and distinct brush-like </a:t>
            </a:r>
            <a:r>
              <a:rPr lang="en-US" b="1" dirty="0" err="1"/>
              <a:t>penicilli</a:t>
            </a:r>
            <a:r>
              <a:rPr lang="en-US" b="1" dirty="0"/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345F2D-F22F-4407-B264-94FA9C9B9CDA}"/>
              </a:ext>
            </a:extLst>
          </p:cNvPr>
          <p:cNvSpPr txBox="1"/>
          <p:nvPr/>
        </p:nvSpPr>
        <p:spPr>
          <a:xfrm>
            <a:off x="6320103" y="3469908"/>
            <a:ext cx="28238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 err="1"/>
              <a:t>Trichoderma</a:t>
            </a:r>
            <a:r>
              <a:rPr lang="en-US" b="1" dirty="0"/>
              <a:t> </a:t>
            </a:r>
            <a:r>
              <a:rPr lang="en-US" b="1" dirty="0" err="1"/>
              <a:t>erinaceum</a:t>
            </a:r>
            <a:r>
              <a:rPr lang="en-US" b="1" dirty="0"/>
              <a:t> showing white, cottony colonies with rapidly branching conidiophores and green conidia clusters.</a:t>
            </a:r>
          </a:p>
        </p:txBody>
      </p:sp>
    </p:spTree>
    <p:extLst>
      <p:ext uri="{BB962C8B-B14F-4D97-AF65-F5344CB8AC3E}">
        <p14:creationId xmlns:p14="http://schemas.microsoft.com/office/powerpoint/2010/main" val="173537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5525"/>
            <a:ext cx="1992541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939552"/>
            <a:ext cx="38100" cy="4572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4650" y="914251"/>
            <a:ext cx="8147737" cy="92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4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All three academic reception halls recorded indoor fungal concentrations within the WHO safe boundary of 50 CFU/m3, though morning values at Volta Hall and Limpopo Hall approached this threshold, indicating potential risk during peak occupancy.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1970931"/>
            <a:ext cx="38100" cy="4572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4650" y="1945630"/>
            <a:ext cx="8147737" cy="614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4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Six fungal species were identified, with Aspergillus niger consistently recovered across all buildings, highlighting its prevalence in indoor academic environments in tropical settings.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600" y="2717750"/>
            <a:ext cx="38100" cy="4572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4650" y="2692450"/>
            <a:ext cx="8147737" cy="92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4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All isolates demonstrated 100% resistance to Fluconazole, while showing high susceptibility to Ketoconazole, suggesting Ketoconazole as the most effective therapeutic option for environmental mould infections in this region.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3749129"/>
            <a:ext cx="38100" cy="4572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74650" y="3723829"/>
            <a:ext cx="8147737" cy="614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4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High evenness indices suggest a balanced mycobiota with no single pathogen dominating, but the consistent presence of opportunistic moulds warrants ongoing surveillance.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5525"/>
            <a:ext cx="3124088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939552"/>
            <a:ext cx="38100" cy="4572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4650" y="914251"/>
            <a:ext cx="8147737" cy="614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4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Implementation of routine indoor air quality monitoring programmes in all academic buildings, particularly during morning hours when fungal concentrations peak.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8650" y="2114550"/>
            <a:ext cx="38100" cy="4572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4649" y="2023098"/>
            <a:ext cx="8147737" cy="92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4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Further research incorporating seasonal comparisons (dry vs. wet season) and molecular identification methods to provide a more comprehensive understanding of indoor aeromycota.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3464570"/>
            <a:ext cx="38100" cy="45720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74650" y="3439269"/>
            <a:ext cx="8147737" cy="614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4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Clinical awareness campaigns regarding the total Fluconazole resistance observed in environmental mould isolates, to guide empirical therapy decisions in the FCT region.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55525"/>
            <a:ext cx="1973239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63501"/>
            <a:ext cx="8321040" cy="724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Arendrup, M. C., Meletiadis, J., Mouton, J. W., Lagrou, K., Hamal, P. and Guinea, J. (2022). Method for the determination of broth dilution minimum inhibitory concentrations of antifungal agents for conidia forming moulds. EUCAST Definitive Document E.DEF 9.3.2.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600" y="1661071"/>
            <a:ext cx="8321040" cy="48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World Health Organization (WHO). (2009). WHO Guidelines for Indoor Air Quality: Dampness and Mould. WHO Regional Office for Europe, Copenhagen.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600" y="2235101"/>
            <a:ext cx="8534400" cy="241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Omeliansky, V. L. (1923). A method for the bacteriological examination of air. Journal of Hygiene, 22(1), 1-12.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2585591"/>
            <a:ext cx="8534400" cy="241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Shannon, C. E. and Weaver, W. (1949). The Mathematical Theory of Communication. University of Illinois Press, Urbana.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600" y="2936081"/>
            <a:ext cx="8534400" cy="241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Simpson, E. H. (1949). Measurement of diversity. Nature, 163(4148), 688.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08450" y="1744414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4320" y="2176165"/>
            <a:ext cx="8595360" cy="66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30"/>
              </a:lnSpc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267200" y="2941886"/>
            <a:ext cx="609600" cy="3810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77452" y="3132386"/>
            <a:ext cx="2189095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FOR LISTENING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0" y="5092750"/>
            <a:ext cx="9144000" cy="5075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Fungal Microflora of Indoor Air in Reception Areas of Academic Buildings at Nile University of Nigeria, Abuja</dc:title>
  <dc:subject>PptxGenJS Presentation</dc:subject>
  <dc:creator>Aisha Salisu Isansi</dc:creator>
  <cp:lastModifiedBy>Sani Zaharadeen</cp:lastModifiedBy>
  <cp:revision>2</cp:revision>
  <dcterms:created xsi:type="dcterms:W3CDTF">2026-06-08T05:16:22Z</dcterms:created>
  <dcterms:modified xsi:type="dcterms:W3CDTF">2026-06-08T06:06:57Z</dcterms:modified>
</cp:coreProperties>
</file>